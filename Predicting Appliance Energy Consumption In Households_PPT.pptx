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w" charset="1" panose="00000500000000000000"/>
      <p:regular r:id="rId14"/>
    </p:embeddedFont>
    <p:embeddedFont>
      <p:font typeface="Lexend Deca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6677" y="-69663"/>
            <a:ext cx="20611475" cy="10287000"/>
            <a:chOff x="0" y="0"/>
            <a:chExt cx="2748196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4" y="0"/>
                  </a:lnTo>
                  <a:lnTo>
                    <a:pt x="1374098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40984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3" y="0"/>
                  </a:lnTo>
                  <a:lnTo>
                    <a:pt x="1374098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361329" y="513800"/>
            <a:ext cx="5897971" cy="5897971"/>
          </a:xfrm>
          <a:custGeom>
            <a:avLst/>
            <a:gdLst/>
            <a:ahLst/>
            <a:cxnLst/>
            <a:rect r="r" b="b" t="t" l="l"/>
            <a:pathLst>
              <a:path h="5897971" w="5897971">
                <a:moveTo>
                  <a:pt x="0" y="0"/>
                </a:moveTo>
                <a:lnTo>
                  <a:pt x="5897971" y="0"/>
                </a:lnTo>
                <a:lnTo>
                  <a:pt x="5897971" y="5897970"/>
                </a:lnTo>
                <a:lnTo>
                  <a:pt x="0" y="5897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28429" y="4419417"/>
            <a:ext cx="3449956" cy="4902084"/>
            <a:chOff x="0" y="0"/>
            <a:chExt cx="9342810" cy="13275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42810" cy="13275311"/>
            </a:xfrm>
            <a:custGeom>
              <a:avLst/>
              <a:gdLst/>
              <a:ahLst/>
              <a:cxnLst/>
              <a:rect r="r" b="b" t="t" l="l"/>
              <a:pathLst>
                <a:path h="13275311" w="9342810">
                  <a:moveTo>
                    <a:pt x="5615768" y="0"/>
                  </a:moveTo>
                  <a:lnTo>
                    <a:pt x="9342810" y="0"/>
                  </a:lnTo>
                  <a:lnTo>
                    <a:pt x="9342810" y="13275311"/>
                  </a:lnTo>
                  <a:lnTo>
                    <a:pt x="0" y="13275311"/>
                  </a:lnTo>
                  <a:lnTo>
                    <a:pt x="0" y="6649720"/>
                  </a:lnTo>
                  <a:cubicBezTo>
                    <a:pt x="0" y="2976880"/>
                    <a:pt x="2514011" y="0"/>
                    <a:pt x="5615768" y="0"/>
                  </a:cubicBezTo>
                  <a:close/>
                </a:path>
              </a:pathLst>
            </a:custGeom>
            <a:blipFill>
              <a:blip r:embed="rId6"/>
              <a:stretch>
                <a:fillRect l="-56635" t="0" r="-56635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111445" y="5598185"/>
            <a:ext cx="4083924" cy="4175016"/>
          </a:xfrm>
          <a:custGeom>
            <a:avLst/>
            <a:gdLst/>
            <a:ahLst/>
            <a:cxnLst/>
            <a:rect r="r" b="b" t="t" l="l"/>
            <a:pathLst>
              <a:path h="4175016" w="4083924">
                <a:moveTo>
                  <a:pt x="0" y="0"/>
                </a:moveTo>
                <a:lnTo>
                  <a:pt x="4083925" y="0"/>
                </a:lnTo>
                <a:lnTo>
                  <a:pt x="4083925" y="4175015"/>
                </a:lnTo>
                <a:lnTo>
                  <a:pt x="0" y="41750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7470" y="8627286"/>
            <a:ext cx="4264191" cy="63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9"/>
              </a:lnSpc>
            </a:pPr>
            <a:r>
              <a:rPr lang="en-US" sz="182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Presented by: UTKARSH RAJ</a:t>
            </a:r>
          </a:p>
          <a:p>
            <a:pPr algn="l" marL="0" indent="0" lvl="0">
              <a:lnSpc>
                <a:spcPts val="2559"/>
              </a:lnSpc>
            </a:pPr>
            <a:r>
              <a:rPr lang="en-US" sz="182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Date: 25-06-2025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47470" y="1028700"/>
            <a:ext cx="9621526" cy="6775330"/>
            <a:chOff x="0" y="0"/>
            <a:chExt cx="12828702" cy="903377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37255"/>
              <a:ext cx="12828702" cy="7896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569"/>
                </a:lnSpc>
              </a:pPr>
              <a:r>
                <a:rPr lang="en-US" sz="10517" spc="-210">
                  <a:solidFill>
                    <a:srgbClr val="000000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Predicting Appliance Energy Consumption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8978467" cy="641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42"/>
                </a:lnSpc>
              </a:pPr>
              <a:r>
                <a:rPr lang="en-US" sz="288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M</a:t>
              </a:r>
              <a:r>
                <a:rPr lang="en-US" sz="288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achine Learning Project Report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3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0"/>
            <a:ext cx="5165094" cy="5319853"/>
          </a:xfrm>
          <a:custGeom>
            <a:avLst/>
            <a:gdLst/>
            <a:ahLst/>
            <a:cxnLst/>
            <a:rect r="r" b="b" t="t" l="l"/>
            <a:pathLst>
              <a:path h="5319853" w="5165094">
                <a:moveTo>
                  <a:pt x="0" y="0"/>
                </a:moveTo>
                <a:lnTo>
                  <a:pt x="5165094" y="0"/>
                </a:lnTo>
                <a:lnTo>
                  <a:pt x="5165094" y="5319853"/>
                </a:lnTo>
                <a:lnTo>
                  <a:pt x="0" y="5319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30042"/>
            <a:ext cx="6611010" cy="6356958"/>
          </a:xfrm>
          <a:custGeom>
            <a:avLst/>
            <a:gdLst/>
            <a:ahLst/>
            <a:cxnLst/>
            <a:rect r="r" b="b" t="t" l="l"/>
            <a:pathLst>
              <a:path h="6356958" w="6611010">
                <a:moveTo>
                  <a:pt x="0" y="0"/>
                </a:moveTo>
                <a:lnTo>
                  <a:pt x="6611010" y="0"/>
                </a:lnTo>
                <a:lnTo>
                  <a:pt x="661101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64" r="0" b="-112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7108831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9"/>
              </a:lnSpc>
            </a:pPr>
            <a:r>
              <a:rPr lang="en-US" sz="784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Project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311990" y="792817"/>
            <a:ext cx="7947310" cy="8701365"/>
            <a:chOff x="0" y="0"/>
            <a:chExt cx="10596413" cy="1160182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171627" y="938177"/>
              <a:ext cx="9424787" cy="361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rform detailed Exploratory Data Analysis (EDA)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Apply feature engineering and scaling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Train and 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val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u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at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 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mul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ipl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egression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mod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ls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Use evaluatio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n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m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ri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: MSE, RMSE, MAE, R²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Generate insightful data visualizations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171627" y="-19050"/>
              <a:ext cx="9424787" cy="604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0"/>
                </a:lnSpc>
              </a:pP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Project </a:t>
              </a: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Objectives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253"/>
              <a:ext cx="763228" cy="512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19"/>
                </a:lnSpc>
              </a:pPr>
              <a:r>
                <a:rPr lang="en-US" sz="2299" u="sng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71627" y="5519773"/>
              <a:ext cx="9424787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Enhanc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 energy efficiency rec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o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mm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nd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ti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on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Assist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smar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g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ri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 management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Help consumers reduce energy bills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171627" y="4537146"/>
              <a:ext cx="9424787" cy="604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0"/>
                </a:lnSpc>
              </a:pP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Pu</a:t>
              </a: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rpose: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679126"/>
              <a:ext cx="763228" cy="512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19"/>
                </a:lnSpc>
              </a:pPr>
              <a:r>
                <a:rPr lang="en-US" sz="2299" u="sng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41613" y="8022785"/>
              <a:ext cx="9424787" cy="604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0"/>
                </a:lnSpc>
              </a:pP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Datas</a:t>
              </a: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et Details: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41613" y="9025202"/>
              <a:ext cx="9424787" cy="257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ource: energydata_complete.csv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19735 re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co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rd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,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29 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fe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ures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Features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inc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lud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</a:t>
              </a:r>
              <a:r>
                <a:rPr lang="en-US" sz="21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: temperature, humidity, visibility, dew point, weather conditions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099578"/>
              <a:ext cx="763228" cy="512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19"/>
                </a:lnSpc>
              </a:pPr>
              <a:r>
                <a:rPr lang="en-US" sz="2299" u="sng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3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704505" y="1496111"/>
            <a:ext cx="1945213" cy="2003497"/>
          </a:xfrm>
          <a:custGeom>
            <a:avLst/>
            <a:gdLst/>
            <a:ahLst/>
            <a:cxnLst/>
            <a:rect r="r" b="b" t="t" l="l"/>
            <a:pathLst>
              <a:path h="2003497" w="1945213">
                <a:moveTo>
                  <a:pt x="1945213" y="2003497"/>
                </a:moveTo>
                <a:lnTo>
                  <a:pt x="0" y="2003497"/>
                </a:lnTo>
                <a:lnTo>
                  <a:pt x="0" y="0"/>
                </a:lnTo>
                <a:lnTo>
                  <a:pt x="1945213" y="0"/>
                </a:lnTo>
                <a:lnTo>
                  <a:pt x="1945213" y="20034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5679" y="3348951"/>
            <a:ext cx="8398321" cy="4997229"/>
          </a:xfrm>
          <a:custGeom>
            <a:avLst/>
            <a:gdLst/>
            <a:ahLst/>
            <a:cxnLst/>
            <a:rect r="r" b="b" t="t" l="l"/>
            <a:pathLst>
              <a:path h="4997229" w="8398321">
                <a:moveTo>
                  <a:pt x="0" y="0"/>
                </a:moveTo>
                <a:lnTo>
                  <a:pt x="8398321" y="0"/>
                </a:lnTo>
                <a:lnTo>
                  <a:pt x="8398321" y="4997229"/>
                </a:lnTo>
                <a:lnTo>
                  <a:pt x="0" y="4997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589" r="0" b="-88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84704" y="4427012"/>
            <a:ext cx="8855005" cy="4831288"/>
          </a:xfrm>
          <a:custGeom>
            <a:avLst/>
            <a:gdLst/>
            <a:ahLst/>
            <a:cxnLst/>
            <a:rect r="r" b="b" t="t" l="l"/>
            <a:pathLst>
              <a:path h="4831288" w="8855005">
                <a:moveTo>
                  <a:pt x="0" y="0"/>
                </a:moveTo>
                <a:lnTo>
                  <a:pt x="8855004" y="0"/>
                </a:lnTo>
                <a:lnTo>
                  <a:pt x="8855004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762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93752" y="2304195"/>
            <a:ext cx="2799348" cy="1744799"/>
          </a:xfrm>
          <a:custGeom>
            <a:avLst/>
            <a:gdLst/>
            <a:ahLst/>
            <a:cxnLst/>
            <a:rect r="r" b="b" t="t" l="l"/>
            <a:pathLst>
              <a:path h="1744799" w="2799348">
                <a:moveTo>
                  <a:pt x="0" y="0"/>
                </a:moveTo>
                <a:lnTo>
                  <a:pt x="2799348" y="0"/>
                </a:lnTo>
                <a:lnTo>
                  <a:pt x="2799348" y="1744800"/>
                </a:lnTo>
                <a:lnTo>
                  <a:pt x="0" y="174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42852" y="2304195"/>
            <a:ext cx="4616448" cy="1744799"/>
          </a:xfrm>
          <a:custGeom>
            <a:avLst/>
            <a:gdLst/>
            <a:ahLst/>
            <a:cxnLst/>
            <a:rect r="r" b="b" t="t" l="l"/>
            <a:pathLst>
              <a:path h="1744799" w="4616448">
                <a:moveTo>
                  <a:pt x="0" y="0"/>
                </a:moveTo>
                <a:lnTo>
                  <a:pt x="4616448" y="0"/>
                </a:lnTo>
                <a:lnTo>
                  <a:pt x="4616448" y="1744800"/>
                </a:lnTo>
                <a:lnTo>
                  <a:pt x="0" y="174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09586"/>
            <a:ext cx="6278957" cy="253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40"/>
              </a:lnSpc>
            </a:pPr>
            <a:r>
              <a:rPr lang="en-US" sz="7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Data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3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61738" y="0"/>
            <a:ext cx="20611475" cy="10287000"/>
            <a:chOff x="0" y="0"/>
            <a:chExt cx="2748196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4" y="0"/>
                  </a:lnTo>
                  <a:lnTo>
                    <a:pt x="1374098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40984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3" y="0"/>
                  </a:lnTo>
                  <a:lnTo>
                    <a:pt x="1374098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233488"/>
            <a:ext cx="16230600" cy="8229600"/>
            <a:chOff x="0" y="0"/>
            <a:chExt cx="21640800" cy="10972800"/>
          </a:xfrm>
        </p:grpSpPr>
        <p:sp>
          <p:nvSpPr>
            <p:cNvPr name="AutoShape 6" id="6"/>
            <p:cNvSpPr/>
            <p:nvPr/>
          </p:nvSpPr>
          <p:spPr>
            <a:xfrm rot="-5400000">
              <a:off x="5334000" y="5473700"/>
              <a:ext cx="10972800" cy="0"/>
            </a:xfrm>
            <a:prstGeom prst="line">
              <a:avLst/>
            </a:prstGeom>
            <a:ln cap="rnd" w="25400">
              <a:solidFill>
                <a:srgbClr val="FFDE5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rot="0">
              <a:off x="0" y="5473700"/>
              <a:ext cx="21640800" cy="0"/>
            </a:xfrm>
            <a:prstGeom prst="line">
              <a:avLst/>
            </a:prstGeom>
            <a:ln cap="rnd" w="25400">
              <a:solidFill>
                <a:srgbClr val="FFDE5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937319" y="3603319"/>
              <a:ext cx="3766163" cy="3766163"/>
            </a:xfrm>
            <a:custGeom>
              <a:avLst/>
              <a:gdLst/>
              <a:ahLst/>
              <a:cxnLst/>
              <a:rect r="r" b="b" t="t" l="l"/>
              <a:pathLst>
                <a:path h="3766163" w="3766163">
                  <a:moveTo>
                    <a:pt x="0" y="0"/>
                  </a:moveTo>
                  <a:lnTo>
                    <a:pt x="3766162" y="0"/>
                  </a:lnTo>
                  <a:lnTo>
                    <a:pt x="3766162" y="3766162"/>
                  </a:lnTo>
                  <a:lnTo>
                    <a:pt x="0" y="3766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057600" y="1287574"/>
            <a:ext cx="5291937" cy="3848992"/>
          </a:xfrm>
          <a:custGeom>
            <a:avLst/>
            <a:gdLst/>
            <a:ahLst/>
            <a:cxnLst/>
            <a:rect r="r" b="b" t="t" l="l"/>
            <a:pathLst>
              <a:path h="3848992" w="5291937">
                <a:moveTo>
                  <a:pt x="0" y="0"/>
                </a:moveTo>
                <a:lnTo>
                  <a:pt x="5291937" y="0"/>
                </a:lnTo>
                <a:lnTo>
                  <a:pt x="5291937" y="3848992"/>
                </a:lnTo>
                <a:lnTo>
                  <a:pt x="0" y="3848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725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06838" y="5970111"/>
            <a:ext cx="6393461" cy="3052878"/>
          </a:xfrm>
          <a:custGeom>
            <a:avLst/>
            <a:gdLst/>
            <a:ahLst/>
            <a:cxnLst/>
            <a:rect r="r" b="b" t="t" l="l"/>
            <a:pathLst>
              <a:path h="3052878" w="6393461">
                <a:moveTo>
                  <a:pt x="0" y="0"/>
                </a:moveTo>
                <a:lnTo>
                  <a:pt x="6393461" y="0"/>
                </a:lnTo>
                <a:lnTo>
                  <a:pt x="6393461" y="3052878"/>
                </a:lnTo>
                <a:lnTo>
                  <a:pt x="0" y="3052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59115" y="1581900"/>
            <a:ext cx="6742054" cy="3561600"/>
            <a:chOff x="0" y="0"/>
            <a:chExt cx="8989405" cy="47488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8989405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DISTRIBUTION &amp; OU</a:t>
              </a:r>
              <a:r>
                <a:rPr lang="en-US" sz="26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TLIERS: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06297"/>
              <a:ext cx="8989405" cy="3942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74" indent="-248287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The App</a:t>
              </a: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liances target variable is right-skewed, with most values clustered below 200 Wh.</a:t>
              </a:r>
            </a:p>
            <a:p>
              <a:pPr algn="l" marL="496574" indent="-248287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Significant outliers exist, with consumption occasionally exceeding 1000 Wh.</a:t>
              </a:r>
            </a:p>
            <a:p>
              <a:pPr algn="l" marL="496574" indent="-248287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Box plot confirmed a wide IQR and high variance in energy usage patterns.</a:t>
              </a:r>
            </a:p>
            <a:p>
              <a:pPr algn="l" marL="0" indent="0" lvl="0">
                <a:lnSpc>
                  <a:spcPts val="299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64381" y="289095"/>
            <a:ext cx="9863367" cy="73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1"/>
              </a:lnSpc>
            </a:pPr>
            <a:r>
              <a:rPr lang="en-US" sz="487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Exploratory</a:t>
            </a:r>
            <a:r>
              <a:rPr lang="en-US" sz="487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Data Analysis (EDA)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59115" y="5530013"/>
            <a:ext cx="6742054" cy="3933075"/>
            <a:chOff x="0" y="0"/>
            <a:chExt cx="8989405" cy="524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8989405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TEMPORAL PATT</a:t>
              </a:r>
              <a:r>
                <a:rPr lang="en-US" sz="26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ERNS: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06297"/>
              <a:ext cx="8989405" cy="443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74" indent="-248287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Hourly Trends: E</a:t>
              </a: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nergy usage peaks between 6 PM to 8 PM, suggesting high evening activity.</a:t>
              </a:r>
            </a:p>
            <a:p>
              <a:pPr algn="l" marL="496574" indent="-248287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Day of Week: Highest average consumption observed on Mondays and weekends.</a:t>
              </a:r>
            </a:p>
            <a:p>
              <a:pPr algn="l" marL="496574" indent="-248287" lvl="1">
                <a:lnSpc>
                  <a:spcPts val="2990"/>
                </a:lnSpc>
                <a:buFont typeface="Arial"/>
                <a:buChar char="•"/>
              </a:pP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M</a:t>
              </a:r>
              <a:r>
                <a:rPr lang="en-US" sz="23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onthly Trends: Relatively stable usage between January to May — no clear seasonal spikes.</a:t>
              </a:r>
            </a:p>
            <a:p>
              <a:pPr algn="l" marL="0" indent="0" lvl="0">
                <a:lnSpc>
                  <a:spcPts val="299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3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61738" y="0"/>
            <a:ext cx="20611475" cy="10287000"/>
            <a:chOff x="0" y="0"/>
            <a:chExt cx="2748196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4" y="0"/>
                  </a:lnTo>
                  <a:lnTo>
                    <a:pt x="1374098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40984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3" y="0"/>
                  </a:lnTo>
                  <a:lnTo>
                    <a:pt x="1374098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 rot="-5400000">
            <a:off x="5029200" y="5338762"/>
            <a:ext cx="8229600" cy="0"/>
          </a:xfrm>
          <a:prstGeom prst="line">
            <a:avLst/>
          </a:prstGeom>
          <a:ln cap="rnd" w="1905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794391" y="1459908"/>
            <a:ext cx="7464909" cy="3547776"/>
          </a:xfrm>
          <a:custGeom>
            <a:avLst/>
            <a:gdLst/>
            <a:ahLst/>
            <a:cxnLst/>
            <a:rect r="r" b="b" t="t" l="l"/>
            <a:pathLst>
              <a:path h="3547776" w="7464909">
                <a:moveTo>
                  <a:pt x="0" y="0"/>
                </a:moveTo>
                <a:lnTo>
                  <a:pt x="7464909" y="0"/>
                </a:lnTo>
                <a:lnTo>
                  <a:pt x="7464909" y="3547775"/>
                </a:lnTo>
                <a:lnTo>
                  <a:pt x="0" y="3547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48378" y="5143500"/>
            <a:ext cx="4756935" cy="4781329"/>
          </a:xfrm>
          <a:custGeom>
            <a:avLst/>
            <a:gdLst/>
            <a:ahLst/>
            <a:cxnLst/>
            <a:rect r="r" b="b" t="t" l="l"/>
            <a:pathLst>
              <a:path h="4781329" w="4756935">
                <a:moveTo>
                  <a:pt x="0" y="0"/>
                </a:moveTo>
                <a:lnTo>
                  <a:pt x="4756935" y="0"/>
                </a:lnTo>
                <a:lnTo>
                  <a:pt x="4756935" y="4781329"/>
                </a:lnTo>
                <a:lnTo>
                  <a:pt x="0" y="4781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55329" y="1868755"/>
            <a:ext cx="6376360" cy="6277857"/>
            <a:chOff x="0" y="0"/>
            <a:chExt cx="8501813" cy="837047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8501813" cy="686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9"/>
                </a:lnSpc>
              </a:pPr>
              <a:r>
                <a:rPr lang="en-US" sz="31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FEATURE RELATIONSH</a:t>
              </a:r>
              <a:r>
                <a:rPr lang="en-US" sz="31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IPS: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7585"/>
              <a:ext cx="8501813" cy="7442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5278" indent="-287639" lvl="1">
                <a:lnSpc>
                  <a:spcPts val="3463"/>
                </a:lnSpc>
                <a:buFont typeface="Arial"/>
                <a:buChar char="•"/>
              </a:pP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Weak corre</a:t>
              </a: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lations observed between energy consumption and individual features like:</a:t>
              </a:r>
            </a:p>
            <a:p>
              <a:pPr algn="l" marL="575278" indent="-287639" lvl="1">
                <a:lnSpc>
                  <a:spcPts val="3463"/>
                </a:lnSpc>
                <a:buFont typeface="Arial"/>
                <a:buChar char="•"/>
              </a:pP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Outdoor temperature (T_out)</a:t>
              </a:r>
            </a:p>
            <a:p>
              <a:pPr algn="l" marL="575278" indent="-287639" lvl="1">
                <a:lnSpc>
                  <a:spcPts val="3463"/>
                </a:lnSpc>
                <a:buFont typeface="Arial"/>
                <a:buChar char="•"/>
              </a:pP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Hum</a:t>
              </a: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idity (RH_out)</a:t>
              </a:r>
            </a:p>
            <a:p>
              <a:pPr algn="l" marL="575278" indent="-287639" lvl="1">
                <a:lnSpc>
                  <a:spcPts val="3463"/>
                </a:lnSpc>
                <a:buFont typeface="Arial"/>
                <a:buChar char="•"/>
              </a:pP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Indoor temperature (T1)</a:t>
              </a:r>
            </a:p>
            <a:p>
              <a:pPr algn="l" marL="575278" indent="-287639" lvl="1">
                <a:lnSpc>
                  <a:spcPts val="3463"/>
                </a:lnSpc>
                <a:buFont typeface="Arial"/>
                <a:buChar char="•"/>
              </a:pP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Lights (discrete, non-informative)</a:t>
              </a:r>
            </a:p>
            <a:p>
              <a:pPr algn="l" marL="575278" indent="-287639" lvl="1">
                <a:lnSpc>
                  <a:spcPts val="3463"/>
                </a:lnSpc>
                <a:buFont typeface="Arial"/>
                <a:buChar char="•"/>
              </a:pPr>
              <a:r>
                <a:rPr lang="en-US" sz="2664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Scatter plots and pair plots indicate that no single variable dominates prediction — multiple interacting factors are likely influencing consumption.</a:t>
              </a:r>
            </a:p>
            <a:p>
              <a:pPr algn="l" marL="0" indent="0" lvl="0">
                <a:lnSpc>
                  <a:spcPts val="346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64381" y="289095"/>
            <a:ext cx="9863367" cy="73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1"/>
              </a:lnSpc>
            </a:pPr>
            <a:r>
              <a:rPr lang="en-US" sz="487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Exploratory</a:t>
            </a:r>
            <a:r>
              <a:rPr lang="en-US" sz="4876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Data Analysis (EDA)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3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61738" y="0"/>
            <a:ext cx="20611475" cy="10287000"/>
            <a:chOff x="0" y="0"/>
            <a:chExt cx="2748196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4" y="0"/>
                  </a:lnTo>
                  <a:lnTo>
                    <a:pt x="1374098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40984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3" y="0"/>
                  </a:lnTo>
                  <a:lnTo>
                    <a:pt x="1374098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3704505" y="1496111"/>
            <a:ext cx="1945213" cy="2003497"/>
          </a:xfrm>
          <a:custGeom>
            <a:avLst/>
            <a:gdLst/>
            <a:ahLst/>
            <a:cxnLst/>
            <a:rect r="r" b="b" t="t" l="l"/>
            <a:pathLst>
              <a:path h="2003497" w="1945213">
                <a:moveTo>
                  <a:pt x="1945213" y="2003497"/>
                </a:moveTo>
                <a:lnTo>
                  <a:pt x="0" y="2003497"/>
                </a:lnTo>
                <a:lnTo>
                  <a:pt x="0" y="0"/>
                </a:lnTo>
                <a:lnTo>
                  <a:pt x="1945213" y="0"/>
                </a:lnTo>
                <a:lnTo>
                  <a:pt x="1945213" y="20034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4051770" y="493796"/>
            <a:ext cx="2331317" cy="3401125"/>
          </a:xfrm>
          <a:custGeom>
            <a:avLst/>
            <a:gdLst/>
            <a:ahLst/>
            <a:cxnLst/>
            <a:rect r="r" b="b" t="t" l="l"/>
            <a:pathLst>
              <a:path h="3401125" w="2331317">
                <a:moveTo>
                  <a:pt x="0" y="0"/>
                </a:moveTo>
                <a:lnTo>
                  <a:pt x="2331317" y="0"/>
                </a:lnTo>
                <a:lnTo>
                  <a:pt x="2331317" y="3401125"/>
                </a:lnTo>
                <a:lnTo>
                  <a:pt x="0" y="34011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7261" y="5850938"/>
            <a:ext cx="8207295" cy="4110911"/>
          </a:xfrm>
          <a:custGeom>
            <a:avLst/>
            <a:gdLst/>
            <a:ahLst/>
            <a:cxnLst/>
            <a:rect r="r" b="b" t="t" l="l"/>
            <a:pathLst>
              <a:path h="4110911" w="8207295">
                <a:moveTo>
                  <a:pt x="0" y="0"/>
                </a:moveTo>
                <a:lnTo>
                  <a:pt x="8207295" y="0"/>
                </a:lnTo>
                <a:lnTo>
                  <a:pt x="8207295" y="4110911"/>
                </a:lnTo>
                <a:lnTo>
                  <a:pt x="0" y="41109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75808" y="1890799"/>
            <a:ext cx="8283492" cy="6173164"/>
          </a:xfrm>
          <a:custGeom>
            <a:avLst/>
            <a:gdLst/>
            <a:ahLst/>
            <a:cxnLst/>
            <a:rect r="r" b="b" t="t" l="l"/>
            <a:pathLst>
              <a:path h="6173164" w="8283492">
                <a:moveTo>
                  <a:pt x="0" y="0"/>
                </a:moveTo>
                <a:lnTo>
                  <a:pt x="8283492" y="0"/>
                </a:lnTo>
                <a:lnTo>
                  <a:pt x="8283492" y="6173165"/>
                </a:lnTo>
                <a:lnTo>
                  <a:pt x="0" y="61731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1801" r="0" b="-1171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7261" y="666508"/>
            <a:ext cx="5163570" cy="5104401"/>
            <a:chOff x="0" y="0"/>
            <a:chExt cx="6884760" cy="680586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6884760" cy="1239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0"/>
                </a:lnSpc>
              </a:pP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Data Pr</a:t>
              </a:r>
              <a:r>
                <a:rPr lang="en-US" sz="2900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eprocessing &amp; Feature Engineering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810323"/>
              <a:ext cx="6884760" cy="4995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Dropped unnecessary columns: d</a:t>
              </a: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ate, rv1, rv2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Applied One-Hot Encoding: day_of_week, month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</a:t>
              </a: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erformed Train-Test Split: 80%-20%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Appl</a:t>
              </a: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ied StandardScaler for feature scaling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Final Feature Count: 36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3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61738" y="0"/>
            <a:ext cx="20611475" cy="10287000"/>
            <a:chOff x="0" y="0"/>
            <a:chExt cx="2748196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4" y="0"/>
                  </a:lnTo>
                  <a:lnTo>
                    <a:pt x="1374098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40984" y="0"/>
              <a:ext cx="137409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40984">
                  <a:moveTo>
                    <a:pt x="0" y="0"/>
                  </a:moveTo>
                  <a:lnTo>
                    <a:pt x="13740983" y="0"/>
                  </a:lnTo>
                  <a:lnTo>
                    <a:pt x="1374098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3704505" y="1496111"/>
            <a:ext cx="1945213" cy="2003497"/>
          </a:xfrm>
          <a:custGeom>
            <a:avLst/>
            <a:gdLst/>
            <a:ahLst/>
            <a:cxnLst/>
            <a:rect r="r" b="b" t="t" l="l"/>
            <a:pathLst>
              <a:path h="2003497" w="1945213">
                <a:moveTo>
                  <a:pt x="1945213" y="2003497"/>
                </a:moveTo>
                <a:lnTo>
                  <a:pt x="0" y="2003497"/>
                </a:lnTo>
                <a:lnTo>
                  <a:pt x="0" y="0"/>
                </a:lnTo>
                <a:lnTo>
                  <a:pt x="1945213" y="0"/>
                </a:lnTo>
                <a:lnTo>
                  <a:pt x="1945213" y="20034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4051770" y="493796"/>
            <a:ext cx="2331317" cy="3401125"/>
          </a:xfrm>
          <a:custGeom>
            <a:avLst/>
            <a:gdLst/>
            <a:ahLst/>
            <a:cxnLst/>
            <a:rect r="r" b="b" t="t" l="l"/>
            <a:pathLst>
              <a:path h="3401125" w="2331317">
                <a:moveTo>
                  <a:pt x="0" y="0"/>
                </a:moveTo>
                <a:lnTo>
                  <a:pt x="2331317" y="0"/>
                </a:lnTo>
                <a:lnTo>
                  <a:pt x="2331317" y="3401125"/>
                </a:lnTo>
                <a:lnTo>
                  <a:pt x="0" y="34011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08151" y="4894774"/>
            <a:ext cx="7962230" cy="4935056"/>
          </a:xfrm>
          <a:custGeom>
            <a:avLst/>
            <a:gdLst/>
            <a:ahLst/>
            <a:cxnLst/>
            <a:rect r="r" b="b" t="t" l="l"/>
            <a:pathLst>
              <a:path h="4935056" w="7962230">
                <a:moveTo>
                  <a:pt x="0" y="0"/>
                </a:moveTo>
                <a:lnTo>
                  <a:pt x="7962230" y="0"/>
                </a:lnTo>
                <a:lnTo>
                  <a:pt x="7962230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50067" y="100945"/>
            <a:ext cx="11737933" cy="4793829"/>
          </a:xfrm>
          <a:custGeom>
            <a:avLst/>
            <a:gdLst/>
            <a:ahLst/>
            <a:cxnLst/>
            <a:rect r="r" b="b" t="t" l="l"/>
            <a:pathLst>
              <a:path h="4793829" w="11737933">
                <a:moveTo>
                  <a:pt x="0" y="0"/>
                </a:moveTo>
                <a:lnTo>
                  <a:pt x="11737933" y="0"/>
                </a:lnTo>
                <a:lnTo>
                  <a:pt x="11737933" y="4793829"/>
                </a:lnTo>
                <a:lnTo>
                  <a:pt x="0" y="47938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106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86270" y="1028700"/>
            <a:ext cx="6425072" cy="8229600"/>
            <a:chOff x="0" y="0"/>
            <a:chExt cx="8566763" cy="109728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8566763" cy="26708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38"/>
                </a:lnSpc>
              </a:pPr>
              <a:r>
                <a:rPr lang="en-US" sz="4106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Model P</a:t>
              </a:r>
              <a:r>
                <a:rPr lang="en-US" sz="4106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erformance Comparison &amp; Best Model Selection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358749"/>
              <a:ext cx="8566763" cy="761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4751" indent="-322375" lvl="1">
                <a:lnSpc>
                  <a:spcPts val="4180"/>
                </a:lnSpc>
                <a:buFont typeface="Arial"/>
                <a:buChar char="•"/>
              </a:pP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Best Model: Tuned XGBoost R</a:t>
              </a: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egressor</a:t>
              </a:r>
            </a:p>
            <a:p>
              <a:pPr algn="l" marL="644751" indent="-322375" lvl="1">
                <a:lnSpc>
                  <a:spcPts val="4180"/>
                </a:lnSpc>
                <a:buFont typeface="Arial"/>
                <a:buChar char="•"/>
              </a:pP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Reasons for Sele</a:t>
              </a: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ction:</a:t>
              </a:r>
            </a:p>
            <a:p>
              <a:pPr algn="l" marL="644751" indent="-322375" lvl="1">
                <a:lnSpc>
                  <a:spcPts val="4180"/>
                </a:lnSpc>
                <a:buFont typeface="Arial"/>
                <a:buChar char="•"/>
              </a:pP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Highest R² Score: 0.56</a:t>
              </a:r>
            </a:p>
            <a:p>
              <a:pPr algn="l" marL="644751" indent="-322375" lvl="1">
                <a:lnSpc>
                  <a:spcPts val="4180"/>
                </a:lnSpc>
                <a:buFont typeface="Arial"/>
                <a:buChar char="•"/>
              </a:pP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Lowest RMSE: 66.39 Wh</a:t>
              </a:r>
            </a:p>
            <a:p>
              <a:pPr algn="l" marL="644751" indent="-322375" lvl="1">
                <a:lnSpc>
                  <a:spcPts val="4180"/>
                </a:lnSpc>
                <a:buFont typeface="Arial"/>
                <a:buChar char="•"/>
              </a:pP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Effectively handles non-linearity &amp; outliers</a:t>
              </a:r>
            </a:p>
            <a:p>
              <a:pPr algn="l" marL="644751" indent="-322375" lvl="1">
                <a:lnSpc>
                  <a:spcPts val="4180"/>
                </a:lnSpc>
                <a:buFont typeface="Arial"/>
                <a:buChar char="•"/>
              </a:pP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Robust generalization across unseen data</a:t>
              </a:r>
            </a:p>
            <a:p>
              <a:pPr algn="l" marL="644751" indent="-322375" lvl="1">
                <a:lnSpc>
                  <a:spcPts val="4180"/>
                </a:lnSpc>
                <a:buFont typeface="Arial"/>
                <a:buChar char="•"/>
              </a:pPr>
              <a:r>
                <a:rPr lang="en-US" sz="298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Scalable &amp; deployable in real-time energy systems.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E3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0"/>
            <a:ext cx="5165094" cy="5319853"/>
          </a:xfrm>
          <a:custGeom>
            <a:avLst/>
            <a:gdLst/>
            <a:ahLst/>
            <a:cxnLst/>
            <a:rect r="r" b="b" t="t" l="l"/>
            <a:pathLst>
              <a:path h="5319853" w="5165094">
                <a:moveTo>
                  <a:pt x="0" y="0"/>
                </a:moveTo>
                <a:lnTo>
                  <a:pt x="5165094" y="0"/>
                </a:lnTo>
                <a:lnTo>
                  <a:pt x="5165094" y="5319853"/>
                </a:lnTo>
                <a:lnTo>
                  <a:pt x="0" y="5319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31511" y="1822907"/>
            <a:ext cx="9744192" cy="6641186"/>
          </a:xfrm>
          <a:custGeom>
            <a:avLst/>
            <a:gdLst/>
            <a:ahLst/>
            <a:cxnLst/>
            <a:rect r="r" b="b" t="t" l="l"/>
            <a:pathLst>
              <a:path h="6641186" w="9744192">
                <a:moveTo>
                  <a:pt x="0" y="0"/>
                </a:moveTo>
                <a:lnTo>
                  <a:pt x="9744192" y="0"/>
                </a:lnTo>
                <a:lnTo>
                  <a:pt x="9744192" y="6641186"/>
                </a:lnTo>
                <a:lnTo>
                  <a:pt x="0" y="664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85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7108831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9"/>
              </a:lnSpc>
            </a:pPr>
            <a:r>
              <a:rPr lang="en-US" sz="784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</a:t>
            </a:r>
            <a:r>
              <a:rPr lang="en-US" sz="784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64726"/>
            <a:ext cx="5605437" cy="741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project success</a:t>
            </a:r>
            <a:r>
              <a:rPr lang="en-US" sz="21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fully developed a predictive pipeline for Appliance Energy Consumption using multiple regression models.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Amo</a:t>
            </a:r>
            <a:r>
              <a:rPr lang="en-US" sz="21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ng all the models tested, XGBoost Regressor (Tuned) proved to be the most robust and reliable — delivering the best generalization on unseen data. This aligns well with its reputation for handling non-linear relationships and feature interactions efficiently.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predictive model holds strong potential for smart home systems, energy optimization, and power grid management, allowing stakeholders to anticipate and adjust energy loads in real time.</a:t>
            </a:r>
          </a:p>
          <a:p>
            <a:pPr algn="l" marL="0" indent="0" lvl="0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Innovating Energy Efficiency Solutions</dc:description>
  <dc:identifier>DAGrSRVFR7k</dc:identifier>
  <dcterms:modified xsi:type="dcterms:W3CDTF">2011-08-01T06:04:30Z</dcterms:modified>
  <cp:revision>1</cp:revision>
  <dc:title>Presentation - Innovating Energy Efficiency Solutions</dc:title>
</cp:coreProperties>
</file>